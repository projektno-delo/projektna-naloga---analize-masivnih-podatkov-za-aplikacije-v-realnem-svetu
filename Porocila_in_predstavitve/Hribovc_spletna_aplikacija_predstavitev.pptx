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5"/>
    <p:sldId id="266" r:id="rId6"/>
    <p:sldId id="267" r:id="rId7"/>
    <p:sldId id="268" r:id="rId8"/>
    <p:sldId id="269" r:id="rId9"/>
    <p:sldId id="270" r:id="rId10"/>
    <p:sldId id="271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6CA5A6-BB05-4F6A-BACF-F8834376F061}">
          <p14:sldIdLst>
            <p14:sldId id="256"/>
            <p14:sldId id="257"/>
            <p14:sldId id="258"/>
            <p14:sldId id="272"/>
            <p14:sldId id="266"/>
            <p14:sldId id="267"/>
            <p14:sldId id="268"/>
            <p14:sldId id="269"/>
            <p14:sldId id="270"/>
            <p14:sldId id="271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_z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000000">
              <a:alpha val="43000"/>
            </a:srgbClr>
          </a:solidFill>
          <a:ln w="12000">
            <a:solidFill>
              <a:srgbClr val="000000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685800" y="91440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3400" b="1">
                <a:solidFill>
                  <a:srgbClr val="FF6B35"/>
                </a:solidFill>
                <a:latin typeface="Aptos"/>
              </a:rPr>
              <a:t>HRIBOVC</a:t>
            </a:r>
            <a:endParaRPr lang="sl-SI" sz="3400"/>
          </a:p>
        </p:txBody>
      </p:sp>
      <p:sp>
        <p:nvSpPr>
          <p:cNvPr id="5" name="Text"/>
          <p:cNvSpPr txBox="1"/>
          <p:nvPr/>
        </p:nvSpPr>
        <p:spPr>
          <a:xfrm>
            <a:off x="685800" y="169164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3200" b="1">
                <a:solidFill>
                  <a:srgbClr val="F4F1E8"/>
                </a:solidFill>
                <a:latin typeface="Aptos"/>
              </a:rPr>
              <a:t>Spletna aplikacija za varnejše načrtovanje pohodov</a:t>
            </a:r>
            <a:endParaRPr lang="sl-SI" sz="3200"/>
          </a:p>
        </p:txBody>
      </p:sp>
      <p:sp>
        <p:nvSpPr>
          <p:cNvPr id="6" name="Text"/>
          <p:cNvSpPr txBox="1"/>
          <p:nvPr/>
        </p:nvSpPr>
        <p:spPr>
          <a:xfrm>
            <a:off x="713232" y="324612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0">
                <a:solidFill>
                  <a:srgbClr val="B8C4BB"/>
                </a:solidFill>
                <a:latin typeface="Aptos"/>
              </a:rPr>
              <a:t>Pregled vremena, planinskih poti in osebnega profila pohodnika.</a:t>
            </a:r>
            <a:endParaRPr lang="sl-SI" sz="1700"/>
          </a:p>
        </p:txBody>
      </p:sp>
      <p:sp>
        <p:nvSpPr>
          <p:cNvPr id="7" name="Panel"/>
          <p:cNvSpPr/>
          <p:nvPr/>
        </p:nvSpPr>
        <p:spPr>
          <a:xfrm>
            <a:off x="713232" y="4343400"/>
            <a:ext cx="4389120" cy="685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8" name="Text"/>
          <p:cNvSpPr txBox="1"/>
          <p:nvPr/>
        </p:nvSpPr>
        <p:spPr>
          <a:xfrm>
            <a:off x="960120" y="4517136"/>
            <a:ext cx="39319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400" b="1" dirty="0">
                <a:solidFill>
                  <a:srgbClr val="F4F1E8"/>
                </a:solidFill>
                <a:latin typeface="Aptos"/>
              </a:rPr>
              <a:t>Predstavitev spletnega dela</a:t>
            </a:r>
            <a:endParaRPr lang="sl-SI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1. Namen aplikacije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Hribovc pomaga uporabniku izbrati bolj varno in primerno planinsko pot.</a:t>
            </a:r>
            <a:endParaRPr lang="sl-SI" sz="1300"/>
          </a:p>
        </p:txBody>
      </p:sp>
      <p:sp>
        <p:nvSpPr>
          <p:cNvPr id="5" name="Panel"/>
          <p:cNvSpPr/>
          <p:nvPr/>
        </p:nvSpPr>
        <p:spPr>
          <a:xfrm>
            <a:off x="685800" y="1600200"/>
            <a:ext cx="3474720" cy="40233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Panel"/>
          <p:cNvSpPr/>
          <p:nvPr/>
        </p:nvSpPr>
        <p:spPr>
          <a:xfrm>
            <a:off x="685800" y="1600200"/>
            <a:ext cx="73152" cy="4023360"/>
          </a:xfrm>
          <a:prstGeom prst="rect">
            <a:avLst/>
          </a:prstGeom>
          <a:solidFill>
            <a:srgbClr val="D95D4C"/>
          </a:solidFill>
          <a:ln w="12000">
            <a:solidFill>
              <a:srgbClr val="D95D4C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7" name="Text"/>
          <p:cNvSpPr txBox="1"/>
          <p:nvPr/>
        </p:nvSpPr>
        <p:spPr>
          <a:xfrm>
            <a:off x="941832" y="1828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Problem</a:t>
            </a:r>
            <a:endParaRPr lang="sl-SI" sz="1700"/>
          </a:p>
        </p:txBody>
      </p:sp>
      <p:sp>
        <p:nvSpPr>
          <p:cNvPr id="8" name="Text"/>
          <p:cNvSpPr txBox="1"/>
          <p:nvPr/>
        </p:nvSpPr>
        <p:spPr>
          <a:xfrm>
            <a:off x="1005840" y="2377440"/>
            <a:ext cx="2926079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Pohodniki pogosto primerjajo vreme, poti in svojo pripravljenost ročno.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Podatki so razpršeni po različnih virih.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Odločitev o poti je lahko slabša, če ni jasnega prikaza tveganj.</a:t>
            </a:r>
            <a:endParaRPr lang="sl-SI" sz="1300"/>
          </a:p>
        </p:txBody>
      </p:sp>
      <p:sp>
        <p:nvSpPr>
          <p:cNvPr id="9" name="Panel"/>
          <p:cNvSpPr/>
          <p:nvPr/>
        </p:nvSpPr>
        <p:spPr>
          <a:xfrm>
            <a:off x="4434840" y="1600200"/>
            <a:ext cx="3474720" cy="40233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0" name="Panel"/>
          <p:cNvSpPr/>
          <p:nvPr/>
        </p:nvSpPr>
        <p:spPr>
          <a:xfrm>
            <a:off x="4434840" y="1600200"/>
            <a:ext cx="73152" cy="402336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"/>
          <p:cNvSpPr txBox="1"/>
          <p:nvPr/>
        </p:nvSpPr>
        <p:spPr>
          <a:xfrm>
            <a:off x="4690872" y="1828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Rešitev</a:t>
            </a:r>
            <a:endParaRPr lang="sl-SI" sz="1700"/>
          </a:p>
        </p:txBody>
      </p:sp>
      <p:sp>
        <p:nvSpPr>
          <p:cNvPr id="12" name="Text"/>
          <p:cNvSpPr txBox="1"/>
          <p:nvPr/>
        </p:nvSpPr>
        <p:spPr>
          <a:xfrm>
            <a:off x="4754879" y="2377440"/>
            <a:ext cx="2926079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Enoten spletni vmesnik za vreme, poti in profil.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Priporočila poti glede na podatke uporabnika.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Jasen prikaz težavnosti, razmer in primernosti poti.</a:t>
            </a:r>
            <a:endParaRPr lang="sl-SI" sz="1300"/>
          </a:p>
        </p:txBody>
      </p:sp>
      <p:sp>
        <p:nvSpPr>
          <p:cNvPr id="13" name="Panel"/>
          <p:cNvSpPr/>
          <p:nvPr/>
        </p:nvSpPr>
        <p:spPr>
          <a:xfrm>
            <a:off x="8183879" y="1600200"/>
            <a:ext cx="3246120" cy="40233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4" name="Panel"/>
          <p:cNvSpPr/>
          <p:nvPr/>
        </p:nvSpPr>
        <p:spPr>
          <a:xfrm>
            <a:off x="8183879" y="1600200"/>
            <a:ext cx="73152" cy="402336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"/>
          <p:cNvSpPr txBox="1"/>
          <p:nvPr/>
        </p:nvSpPr>
        <p:spPr>
          <a:xfrm>
            <a:off x="8439911" y="18288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Rezultat</a:t>
            </a:r>
            <a:endParaRPr lang="sl-SI" sz="1700"/>
          </a:p>
        </p:txBody>
      </p:sp>
      <p:sp>
        <p:nvSpPr>
          <p:cNvPr id="16" name="Text"/>
          <p:cNvSpPr txBox="1"/>
          <p:nvPr/>
        </p:nvSpPr>
        <p:spPr>
          <a:xfrm>
            <a:off x="8503919" y="2377440"/>
            <a:ext cx="2697479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Hitrejše načrtovanje izleta.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Bolj pregleden izbor poti.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Večja varnost pred odhodom v hribe.</a:t>
            </a:r>
            <a:endParaRPr lang="sl-SI" sz="1300"/>
          </a:p>
        </p:txBody>
      </p:sp>
      <p:sp>
        <p:nvSpPr>
          <p:cNvPr id="17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18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2</a:t>
            </a:r>
            <a:endParaRPr lang="sl-SI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2. Glavne strani spletne aplikacije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Panel"/>
          <p:cNvSpPr/>
          <p:nvPr/>
        </p:nvSpPr>
        <p:spPr>
          <a:xfrm>
            <a:off x="685800" y="1417320"/>
            <a:ext cx="2880360" cy="1828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5" name="Panel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Text"/>
          <p:cNvSpPr txBox="1"/>
          <p:nvPr/>
        </p:nvSpPr>
        <p:spPr>
          <a:xfrm>
            <a:off x="941832" y="16459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Domov</a:t>
            </a:r>
            <a:endParaRPr lang="sl-SI" sz="1700"/>
          </a:p>
        </p:txBody>
      </p:sp>
      <p:sp>
        <p:nvSpPr>
          <p:cNvPr id="7" name="Text"/>
          <p:cNvSpPr txBox="1"/>
          <p:nvPr/>
        </p:nvSpPr>
        <p:spPr>
          <a:xfrm>
            <a:off x="1005840" y="21945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Predstavitev aplikacije in usmerjanje uporabnika po korakih.</a:t>
            </a:r>
            <a:endParaRPr lang="sl-SI" sz="1300"/>
          </a:p>
        </p:txBody>
      </p:sp>
      <p:sp>
        <p:nvSpPr>
          <p:cNvPr id="8" name="Panel"/>
          <p:cNvSpPr/>
          <p:nvPr/>
        </p:nvSpPr>
        <p:spPr>
          <a:xfrm>
            <a:off x="4160520" y="1417320"/>
            <a:ext cx="2880360" cy="1828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9" name="Panel"/>
          <p:cNvSpPr/>
          <p:nvPr/>
        </p:nvSpPr>
        <p:spPr>
          <a:xfrm>
            <a:off x="4160520" y="1417320"/>
            <a:ext cx="73152" cy="182880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0" name="Text"/>
          <p:cNvSpPr txBox="1"/>
          <p:nvPr/>
        </p:nvSpPr>
        <p:spPr>
          <a:xfrm>
            <a:off x="4416552" y="16459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Vreme</a:t>
            </a:r>
            <a:endParaRPr lang="sl-SI" sz="1700"/>
          </a:p>
        </p:txBody>
      </p:sp>
      <p:sp>
        <p:nvSpPr>
          <p:cNvPr id="11" name="Text"/>
          <p:cNvSpPr txBox="1"/>
          <p:nvPr/>
        </p:nvSpPr>
        <p:spPr>
          <a:xfrm>
            <a:off x="4480559" y="21945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Prikaz trenutnih razmer in tveganj po višinskih območjih.</a:t>
            </a:r>
            <a:endParaRPr lang="sl-SI" sz="1300"/>
          </a:p>
        </p:txBody>
      </p:sp>
      <p:sp>
        <p:nvSpPr>
          <p:cNvPr id="12" name="Panel"/>
          <p:cNvSpPr/>
          <p:nvPr/>
        </p:nvSpPr>
        <p:spPr>
          <a:xfrm>
            <a:off x="7635240" y="1417320"/>
            <a:ext cx="2880360" cy="1828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3" name="Panel"/>
          <p:cNvSpPr/>
          <p:nvPr/>
        </p:nvSpPr>
        <p:spPr>
          <a:xfrm>
            <a:off x="7635240" y="1417320"/>
            <a:ext cx="73152" cy="1828800"/>
          </a:xfrm>
          <a:prstGeom prst="rect">
            <a:avLst/>
          </a:prstGeom>
          <a:solidFill>
            <a:srgbClr val="E8B75A"/>
          </a:solidFill>
          <a:ln w="12000">
            <a:solidFill>
              <a:srgbClr val="E8B75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4" name="Text"/>
          <p:cNvSpPr txBox="1"/>
          <p:nvPr/>
        </p:nvSpPr>
        <p:spPr>
          <a:xfrm>
            <a:off x="7891271" y="16459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Poti</a:t>
            </a:r>
            <a:endParaRPr lang="sl-SI" sz="1700"/>
          </a:p>
        </p:txBody>
      </p:sp>
      <p:sp>
        <p:nvSpPr>
          <p:cNvPr id="15" name="Text"/>
          <p:cNvSpPr txBox="1"/>
          <p:nvPr/>
        </p:nvSpPr>
        <p:spPr>
          <a:xfrm>
            <a:off x="7955279" y="21945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Iskanje, filtriranje in priporočanje planinskih poti.</a:t>
            </a:r>
            <a:endParaRPr lang="sl-SI" sz="1300"/>
          </a:p>
        </p:txBody>
      </p:sp>
      <p:sp>
        <p:nvSpPr>
          <p:cNvPr id="16" name="Panel"/>
          <p:cNvSpPr/>
          <p:nvPr/>
        </p:nvSpPr>
        <p:spPr>
          <a:xfrm>
            <a:off x="2423160" y="3886200"/>
            <a:ext cx="2880360" cy="1828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7" name="Panel"/>
          <p:cNvSpPr/>
          <p:nvPr/>
        </p:nvSpPr>
        <p:spPr>
          <a:xfrm>
            <a:off x="2423160" y="3886200"/>
            <a:ext cx="73152" cy="182880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8" name="Text"/>
          <p:cNvSpPr txBox="1"/>
          <p:nvPr/>
        </p:nvSpPr>
        <p:spPr>
          <a:xfrm>
            <a:off x="2679191" y="4114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Profil</a:t>
            </a:r>
            <a:endParaRPr lang="sl-SI" sz="1700"/>
          </a:p>
        </p:txBody>
      </p:sp>
      <p:sp>
        <p:nvSpPr>
          <p:cNvPr id="19" name="Text"/>
          <p:cNvSpPr txBox="1"/>
          <p:nvPr/>
        </p:nvSpPr>
        <p:spPr>
          <a:xfrm>
            <a:off x="2743200" y="46634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Shranjeni vrhovi, osebne poti in načrtovanje tras na zemljevidu.</a:t>
            </a:r>
            <a:endParaRPr lang="sl-SI" sz="1300"/>
          </a:p>
        </p:txBody>
      </p:sp>
      <p:sp>
        <p:nvSpPr>
          <p:cNvPr id="20" name="Panel"/>
          <p:cNvSpPr/>
          <p:nvPr/>
        </p:nvSpPr>
        <p:spPr>
          <a:xfrm>
            <a:off x="5897880" y="3886200"/>
            <a:ext cx="2880360" cy="18288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1" name="Panel"/>
          <p:cNvSpPr/>
          <p:nvPr/>
        </p:nvSpPr>
        <p:spPr>
          <a:xfrm>
            <a:off x="5897880" y="3886200"/>
            <a:ext cx="73152" cy="182880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2" name="Text"/>
          <p:cNvSpPr txBox="1"/>
          <p:nvPr/>
        </p:nvSpPr>
        <p:spPr>
          <a:xfrm>
            <a:off x="6153912" y="4114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Račun</a:t>
            </a:r>
            <a:endParaRPr lang="sl-SI" sz="1700"/>
          </a:p>
        </p:txBody>
      </p:sp>
      <p:sp>
        <p:nvSpPr>
          <p:cNvPr id="23" name="Text"/>
          <p:cNvSpPr txBox="1"/>
          <p:nvPr/>
        </p:nvSpPr>
        <p:spPr>
          <a:xfrm>
            <a:off x="6217920" y="46634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Registracija in osnovna prijava za uporabo osebnih podatkov.</a:t>
            </a:r>
            <a:endParaRPr lang="sl-SI" sz="1300"/>
          </a:p>
        </p:txBody>
      </p:sp>
      <p:sp>
        <p:nvSpPr>
          <p:cNvPr id="24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25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3</a:t>
            </a:r>
            <a:endParaRPr lang="sl-SI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8A6C8-250A-5E7F-846E-74CFBE1BC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522"/>
            <a:ext cx="12192000" cy="634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745DE-E1D4-CC44-BCC9-523661256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831"/>
            <a:ext cx="12192000" cy="633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4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B28663-EFF7-2D14-D71C-8DF8AA705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354"/>
            <a:ext cx="12192000" cy="616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7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185CA8-679A-93EB-432B-3FF09494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962"/>
            <a:ext cx="12192000" cy="63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0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43233A-99D5-DA52-B37D-974574CF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408"/>
            <a:ext cx="12192000" cy="620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8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10BFE-C6FD-99F1-F638-F48F1EC3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29"/>
            <a:ext cx="12192000" cy="635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2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1CDF2-8A50-E3C3-D03C-1501D8A7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879"/>
            <a:ext cx="12192000" cy="62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7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3. Arhitektura spletnega dela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Frontend, backend in podatkovna baza sodelujejo prek jasnih API endpointov.</a:t>
            </a:r>
            <a:endParaRPr lang="sl-SI" sz="1300"/>
          </a:p>
        </p:txBody>
      </p:sp>
      <p:sp>
        <p:nvSpPr>
          <p:cNvPr id="5" name="Panel"/>
          <p:cNvSpPr/>
          <p:nvPr/>
        </p:nvSpPr>
        <p:spPr>
          <a:xfrm>
            <a:off x="822960" y="1828800"/>
            <a:ext cx="2651760" cy="11430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Text"/>
          <p:cNvSpPr txBox="1"/>
          <p:nvPr/>
        </p:nvSpPr>
        <p:spPr>
          <a:xfrm>
            <a:off x="100584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4F1E8"/>
                </a:solidFill>
                <a:latin typeface="Aptos"/>
              </a:rPr>
              <a:t>React + Vite</a:t>
            </a:r>
            <a:endParaRPr lang="sl-SI" sz="1800"/>
          </a:p>
        </p:txBody>
      </p:sp>
      <p:sp>
        <p:nvSpPr>
          <p:cNvPr id="7" name="Text"/>
          <p:cNvSpPr txBox="1"/>
          <p:nvPr/>
        </p:nvSpPr>
        <p:spPr>
          <a:xfrm>
            <a:off x="1005840" y="24871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uporabniški vmesnik</a:t>
            </a:r>
            <a:endParaRPr lang="sl-SI" sz="1200"/>
          </a:p>
        </p:txBody>
      </p:sp>
      <p:sp>
        <p:nvSpPr>
          <p:cNvPr id="8" name="Panel"/>
          <p:cNvSpPr/>
          <p:nvPr/>
        </p:nvSpPr>
        <p:spPr>
          <a:xfrm>
            <a:off x="4343400" y="1828800"/>
            <a:ext cx="2651760" cy="11430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9" name="Text"/>
          <p:cNvSpPr txBox="1"/>
          <p:nvPr/>
        </p:nvSpPr>
        <p:spPr>
          <a:xfrm>
            <a:off x="452628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4F1E8"/>
                </a:solidFill>
                <a:latin typeface="Aptos"/>
              </a:rPr>
              <a:t>Backend API</a:t>
            </a:r>
            <a:endParaRPr lang="sl-SI" sz="1800"/>
          </a:p>
        </p:txBody>
      </p:sp>
      <p:sp>
        <p:nvSpPr>
          <p:cNvPr id="10" name="Text"/>
          <p:cNvSpPr txBox="1"/>
          <p:nvPr/>
        </p:nvSpPr>
        <p:spPr>
          <a:xfrm>
            <a:off x="4526280" y="24871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Node.js HTTP strežnik</a:t>
            </a:r>
            <a:endParaRPr lang="sl-SI" sz="1200"/>
          </a:p>
        </p:txBody>
      </p:sp>
      <p:sp>
        <p:nvSpPr>
          <p:cNvPr id="11" name="Panel"/>
          <p:cNvSpPr/>
          <p:nvPr/>
        </p:nvSpPr>
        <p:spPr>
          <a:xfrm>
            <a:off x="7863840" y="1828800"/>
            <a:ext cx="2651760" cy="11430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2" name="Text"/>
          <p:cNvSpPr txBox="1"/>
          <p:nvPr/>
        </p:nvSpPr>
        <p:spPr>
          <a:xfrm>
            <a:off x="8046719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4F1E8"/>
                </a:solidFill>
                <a:latin typeface="Aptos"/>
              </a:rPr>
              <a:t>MongoDB</a:t>
            </a:r>
            <a:endParaRPr lang="sl-SI" sz="1800"/>
          </a:p>
        </p:txBody>
      </p:sp>
      <p:sp>
        <p:nvSpPr>
          <p:cNvPr id="13" name="Text"/>
          <p:cNvSpPr txBox="1"/>
          <p:nvPr/>
        </p:nvSpPr>
        <p:spPr>
          <a:xfrm>
            <a:off x="8046719" y="248716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uporabniki, vreme, poti</a:t>
            </a:r>
            <a:endParaRPr lang="sl-SI" sz="1200"/>
          </a:p>
        </p:txBody>
      </p:sp>
      <p:cxnSp>
        <p:nvCxnSpPr>
          <p:cNvPr id="14" name="Arrow"/>
          <p:cNvCxnSpPr/>
          <p:nvPr/>
        </p:nvCxnSpPr>
        <p:spPr>
          <a:xfrm>
            <a:off x="3474720" y="2395728"/>
            <a:ext cx="685800" cy="0"/>
          </a:xfrm>
          <a:prstGeom prst="line">
            <a:avLst/>
          </a:prstGeom>
          <a:ln w="26000">
            <a:solidFill>
              <a:srgbClr val="8FA998"/>
            </a:solidFill>
            <a:tailEnd type="triangle"/>
          </a:ln>
        </p:spPr>
      </p:cxnSp>
      <p:cxnSp>
        <p:nvCxnSpPr>
          <p:cNvPr id="15" name="Arrow"/>
          <p:cNvCxnSpPr/>
          <p:nvPr/>
        </p:nvCxnSpPr>
        <p:spPr>
          <a:xfrm>
            <a:off x="7086600" y="2395728"/>
            <a:ext cx="594360" cy="0"/>
          </a:xfrm>
          <a:prstGeom prst="line">
            <a:avLst/>
          </a:prstGeom>
          <a:ln w="26000">
            <a:solidFill>
              <a:srgbClr val="8FA998"/>
            </a:solidFill>
            <a:tailEnd type="triangle"/>
          </a:ln>
        </p:spPr>
      </p:cxnSp>
      <p:sp>
        <p:nvSpPr>
          <p:cNvPr id="16" name="Panel"/>
          <p:cNvSpPr/>
          <p:nvPr/>
        </p:nvSpPr>
        <p:spPr>
          <a:xfrm>
            <a:off x="868680" y="3886200"/>
            <a:ext cx="5166360" cy="16002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7" name="Panel"/>
          <p:cNvSpPr/>
          <p:nvPr/>
        </p:nvSpPr>
        <p:spPr>
          <a:xfrm>
            <a:off x="868680" y="3886200"/>
            <a:ext cx="73152" cy="160020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8" name="Text"/>
          <p:cNvSpPr txBox="1"/>
          <p:nvPr/>
        </p:nvSpPr>
        <p:spPr>
          <a:xfrm>
            <a:off x="1124712" y="411480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 dirty="0">
                <a:solidFill>
                  <a:srgbClr val="F4F1E8"/>
                </a:solidFill>
                <a:latin typeface="Aptos"/>
              </a:rPr>
              <a:t>Zunanji viri podatkov</a:t>
            </a:r>
            <a:endParaRPr lang="sl-SI" sz="1700" dirty="0"/>
          </a:p>
        </p:txBody>
      </p:sp>
      <p:sp>
        <p:nvSpPr>
          <p:cNvPr id="19" name="Text"/>
          <p:cNvSpPr txBox="1"/>
          <p:nvPr/>
        </p:nvSpPr>
        <p:spPr>
          <a:xfrm>
            <a:off x="1188719" y="466344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ARSO vremenski XML viri.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Scraper planinskih poti.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OpenStreetMap/Nominatim in routing za načrtovanje poti.</a:t>
            </a:r>
            <a:endParaRPr lang="sl-SI" sz="1300"/>
          </a:p>
        </p:txBody>
      </p:sp>
      <p:sp>
        <p:nvSpPr>
          <p:cNvPr id="20" name="Panel"/>
          <p:cNvSpPr/>
          <p:nvPr/>
        </p:nvSpPr>
        <p:spPr>
          <a:xfrm>
            <a:off x="6355080" y="3886200"/>
            <a:ext cx="5074920" cy="160020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1" name="Panel"/>
          <p:cNvSpPr/>
          <p:nvPr/>
        </p:nvSpPr>
        <p:spPr>
          <a:xfrm>
            <a:off x="6355080" y="3886200"/>
            <a:ext cx="73152" cy="160020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2" name="Text"/>
          <p:cNvSpPr txBox="1"/>
          <p:nvPr/>
        </p:nvSpPr>
        <p:spPr>
          <a:xfrm>
            <a:off x="6611112" y="41148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Podatkovni rezultat</a:t>
            </a:r>
            <a:endParaRPr lang="sl-SI" sz="1700"/>
          </a:p>
        </p:txBody>
      </p:sp>
      <p:sp>
        <p:nvSpPr>
          <p:cNvPr id="23" name="Text"/>
          <p:cNvSpPr txBox="1"/>
          <p:nvPr/>
        </p:nvSpPr>
        <p:spPr>
          <a:xfrm>
            <a:off x="6675120" y="466344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Spletna aplikacija prikaže uporabniku razumljive kartice, grafe in priporočila.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Podatki se hranijo za ponovno uporabo in analize.</a:t>
            </a:r>
            <a:endParaRPr lang="sl-SI" sz="1300"/>
          </a:p>
        </p:txBody>
      </p:sp>
      <p:sp>
        <p:nvSpPr>
          <p:cNvPr id="24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25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4</a:t>
            </a:r>
            <a:endParaRPr lang="sl-SI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zadje_za_vreme_sree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12280" y="502920"/>
            <a:ext cx="4572000" cy="557784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6812280" y="502920"/>
            <a:ext cx="4572000" cy="5577840"/>
          </a:xfrm>
          <a:prstGeom prst="rect">
            <a:avLst/>
          </a:prstGeom>
          <a:solidFill>
            <a:srgbClr val="000000">
              <a:alpha val="35000"/>
            </a:srgbClr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4. Modul Vreme</a:t>
            </a:r>
            <a:endParaRPr lang="sl-SI" sz="2600"/>
          </a:p>
        </p:txBody>
      </p:sp>
      <p:sp>
        <p:nvSpPr>
          <p:cNvPr id="5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Namen: pred pohodom hitro oceniti razmere in tveganje.</a:t>
            </a:r>
            <a:endParaRPr lang="sl-SI" sz="1300"/>
          </a:p>
        </p:txBody>
      </p:sp>
      <p:sp>
        <p:nvSpPr>
          <p:cNvPr id="7" name="Panel"/>
          <p:cNvSpPr/>
          <p:nvPr/>
        </p:nvSpPr>
        <p:spPr>
          <a:xfrm>
            <a:off x="685800" y="1417320"/>
            <a:ext cx="5303520" cy="452628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8" name="Panel"/>
          <p:cNvSpPr/>
          <p:nvPr/>
        </p:nvSpPr>
        <p:spPr>
          <a:xfrm>
            <a:off x="685800" y="1417320"/>
            <a:ext cx="73152" cy="452628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9" name="Text"/>
          <p:cNvSpPr txBox="1"/>
          <p:nvPr/>
        </p:nvSpPr>
        <p:spPr>
          <a:xfrm>
            <a:off x="941832" y="16459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Kaj prikaže stran?</a:t>
            </a:r>
            <a:endParaRPr lang="sl-SI" sz="1700"/>
          </a:p>
        </p:txBody>
      </p:sp>
      <p:sp>
        <p:nvSpPr>
          <p:cNvPr id="10" name="Text"/>
          <p:cNvSpPr txBox="1"/>
          <p:nvPr/>
        </p:nvSpPr>
        <p:spPr>
          <a:xfrm>
            <a:off x="1005840" y="219456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Zadnje vremenske podatke, pridobljene prek backend endpointa /weather.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Samodežen nov zajem, če so podatki prestari.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Razmere po višinskih območjih: nizko, srednje in visoko gorovje.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Oznako tveganja: nizko, srednje, visoko ali ekstremno.</a:t>
            </a:r>
            <a:endParaRPr lang="sl-SI" sz="1300"/>
          </a:p>
        </p:txBody>
      </p:sp>
      <p:sp>
        <p:nvSpPr>
          <p:cNvPr id="11" name="Text"/>
          <p:cNvSpPr txBox="1"/>
          <p:nvPr/>
        </p:nvSpPr>
        <p:spPr>
          <a:xfrm>
            <a:off x="7315200" y="19202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4F1E8"/>
                </a:solidFill>
                <a:latin typeface="Aptos"/>
              </a:rPr>
              <a:t>Primer uporabniške vrednosti</a:t>
            </a:r>
            <a:endParaRPr lang="sl-SI" sz="1800"/>
          </a:p>
        </p:txBody>
      </p:sp>
      <p:sp>
        <p:nvSpPr>
          <p:cNvPr id="12" name="Text"/>
          <p:cNvSpPr txBox="1"/>
          <p:nvPr/>
        </p:nvSpPr>
        <p:spPr>
          <a:xfrm>
            <a:off x="7315200" y="2697480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500" b="0">
                <a:solidFill>
                  <a:srgbClr val="F4F1E8"/>
                </a:solidFill>
                <a:latin typeface="Aptos"/>
              </a:rPr>
              <a:t>Uporabnik pred odhodom ne bere surovih vremenskih podatkov, ampak vidi kratek status razmer in podrobnosti za posamezno območje.</a:t>
            </a:r>
            <a:endParaRPr lang="sl-SI" sz="1500"/>
          </a:p>
        </p:txBody>
      </p:sp>
      <p:sp>
        <p:nvSpPr>
          <p:cNvPr id="13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14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5</a:t>
            </a:r>
            <a:endParaRPr lang="sl-SI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iglav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7498079" y="1051560"/>
            <a:ext cx="3977639" cy="516636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7498079" y="1051560"/>
            <a:ext cx="3977639" cy="5166360"/>
          </a:xfrm>
          <a:prstGeom prst="rect">
            <a:avLst/>
          </a:prstGeom>
          <a:solidFill>
            <a:srgbClr val="000000">
              <a:alpha val="30000"/>
            </a:srgbClr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5. Modul Poti</a:t>
            </a:r>
            <a:endParaRPr lang="sl-SI" sz="2600"/>
          </a:p>
        </p:txBody>
      </p:sp>
      <p:sp>
        <p:nvSpPr>
          <p:cNvPr id="5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Stran Izberi pot je osrednji pregled planinskih poti.</a:t>
            </a:r>
            <a:endParaRPr lang="sl-SI" sz="1300"/>
          </a:p>
        </p:txBody>
      </p:sp>
      <p:sp>
        <p:nvSpPr>
          <p:cNvPr id="7" name="Panel"/>
          <p:cNvSpPr/>
          <p:nvPr/>
        </p:nvSpPr>
        <p:spPr>
          <a:xfrm>
            <a:off x="685800" y="1417320"/>
            <a:ext cx="3246120" cy="44805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8" name="Panel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9" name="Text"/>
          <p:cNvSpPr txBox="1"/>
          <p:nvPr/>
        </p:nvSpPr>
        <p:spPr>
          <a:xfrm>
            <a:off x="941832" y="16459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Iskanje in filtriranje</a:t>
            </a:r>
            <a:endParaRPr lang="sl-SI" sz="1700"/>
          </a:p>
        </p:txBody>
      </p:sp>
      <p:sp>
        <p:nvSpPr>
          <p:cNvPr id="10" name="Text"/>
          <p:cNvSpPr txBox="1"/>
          <p:nvPr/>
        </p:nvSpPr>
        <p:spPr>
          <a:xfrm>
            <a:off x="1005840" y="2194560"/>
            <a:ext cx="2697479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Iskanje po imenu poti ali vrha.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Filtriranje po regiji.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Filtriranje po težavnosti.</a:t>
            </a:r>
            <a:endParaRPr lang="sl-SI" sz="1300"/>
          </a:p>
        </p:txBody>
      </p:sp>
      <p:sp>
        <p:nvSpPr>
          <p:cNvPr id="11" name="Panel"/>
          <p:cNvSpPr/>
          <p:nvPr/>
        </p:nvSpPr>
        <p:spPr>
          <a:xfrm>
            <a:off x="4160520" y="1417320"/>
            <a:ext cx="3246120" cy="44805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2" name="Panel"/>
          <p:cNvSpPr/>
          <p:nvPr/>
        </p:nvSpPr>
        <p:spPr>
          <a:xfrm>
            <a:off x="4160520" y="1417320"/>
            <a:ext cx="73152" cy="448056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3" name="Text"/>
          <p:cNvSpPr txBox="1"/>
          <p:nvPr/>
        </p:nvSpPr>
        <p:spPr>
          <a:xfrm>
            <a:off x="4416552" y="16459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Priporočila</a:t>
            </a:r>
            <a:endParaRPr lang="sl-SI" sz="1700"/>
          </a:p>
        </p:txBody>
      </p:sp>
      <p:sp>
        <p:nvSpPr>
          <p:cNvPr id="14" name="Text"/>
          <p:cNvSpPr txBox="1"/>
          <p:nvPr/>
        </p:nvSpPr>
        <p:spPr>
          <a:xfrm>
            <a:off x="4480559" y="2194560"/>
            <a:ext cx="2697479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Aplikacija upošteva profil uporabnika.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Izračuna oceno primernosti poti.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Poti razvrsti med priporočeno, previdno in odsvetovano.</a:t>
            </a:r>
            <a:endParaRPr lang="sl-SI" sz="1300"/>
          </a:p>
        </p:txBody>
      </p:sp>
      <p:sp>
        <p:nvSpPr>
          <p:cNvPr id="15" name="Text"/>
          <p:cNvSpPr txBox="1"/>
          <p:nvPr/>
        </p:nvSpPr>
        <p:spPr>
          <a:xfrm>
            <a:off x="7818120" y="50749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Cilj: manj ugibanja, več preglednosti.</a:t>
            </a:r>
            <a:endParaRPr lang="sl-SI" sz="1600"/>
          </a:p>
        </p:txBody>
      </p:sp>
      <p:sp>
        <p:nvSpPr>
          <p:cNvPr id="16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17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6</a:t>
            </a:r>
            <a:endParaRPr lang="sl-SI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6. Profil in načrtovanje poti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Profil združuje osebne cilje, shranjene poti in interaktivni zemljevid.</a:t>
            </a:r>
            <a:endParaRPr lang="sl-SI" sz="1300"/>
          </a:p>
        </p:txBody>
      </p:sp>
      <p:sp>
        <p:nvSpPr>
          <p:cNvPr id="5" name="Panel"/>
          <p:cNvSpPr/>
          <p:nvPr/>
        </p:nvSpPr>
        <p:spPr>
          <a:xfrm>
            <a:off x="685800" y="1325880"/>
            <a:ext cx="3657600" cy="443484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Panel"/>
          <p:cNvSpPr/>
          <p:nvPr/>
        </p:nvSpPr>
        <p:spPr>
          <a:xfrm>
            <a:off x="685800" y="1325880"/>
            <a:ext cx="73152" cy="443484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7" name="Text"/>
          <p:cNvSpPr txBox="1"/>
          <p:nvPr/>
        </p:nvSpPr>
        <p:spPr>
          <a:xfrm>
            <a:off x="941832" y="1554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Osebni profil</a:t>
            </a:r>
            <a:endParaRPr lang="sl-SI" sz="1700"/>
          </a:p>
        </p:txBody>
      </p:sp>
      <p:sp>
        <p:nvSpPr>
          <p:cNvPr id="8" name="Text"/>
          <p:cNvSpPr txBox="1"/>
          <p:nvPr/>
        </p:nvSpPr>
        <p:spPr>
          <a:xfrm>
            <a:off x="1005840" y="2103120"/>
            <a:ext cx="3108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Shranjevanje osvojenih vrhov.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Pregled osebnih poti.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Lokalno hranjenje podatkov za uporabniško izkušnjo.</a:t>
            </a:r>
            <a:endParaRPr lang="sl-SI" sz="1300"/>
          </a:p>
        </p:txBody>
      </p:sp>
      <p:sp>
        <p:nvSpPr>
          <p:cNvPr id="9" name="Panel"/>
          <p:cNvSpPr/>
          <p:nvPr/>
        </p:nvSpPr>
        <p:spPr>
          <a:xfrm>
            <a:off x="4526280" y="1325880"/>
            <a:ext cx="3657600" cy="443484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0" name="Panel"/>
          <p:cNvSpPr/>
          <p:nvPr/>
        </p:nvSpPr>
        <p:spPr>
          <a:xfrm>
            <a:off x="4526280" y="1325880"/>
            <a:ext cx="73152" cy="443484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"/>
          <p:cNvSpPr txBox="1"/>
          <p:nvPr/>
        </p:nvSpPr>
        <p:spPr>
          <a:xfrm>
            <a:off x="4782312" y="15544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700" b="1">
                <a:solidFill>
                  <a:srgbClr val="F4F1E8"/>
                </a:solidFill>
                <a:latin typeface="Aptos"/>
              </a:rPr>
              <a:t>Načrtovanje trase</a:t>
            </a:r>
            <a:endParaRPr lang="sl-SI" sz="1700"/>
          </a:p>
        </p:txBody>
      </p:sp>
      <p:sp>
        <p:nvSpPr>
          <p:cNvPr id="12" name="Text"/>
          <p:cNvSpPr txBox="1"/>
          <p:nvPr/>
        </p:nvSpPr>
        <p:spPr>
          <a:xfrm>
            <a:off x="4846320" y="2103120"/>
            <a:ext cx="310896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Uporabnik vnese začetek in cilj ali ju izbere na zemljevidu.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Leaflet prikaže traso in predloge poti.</a:t>
            </a:r>
            <a:endParaRPr lang="sl-SI" sz="1300"/>
          </a:p>
          <a:p>
            <a:pPr marL="342900" indent="-171450" algn="l">
              <a:buChar char="•"/>
            </a:pPr>
            <a:r>
              <a:rPr lang="sl-SI" sz="1300" b="0">
                <a:solidFill>
                  <a:srgbClr val="B8C4BB"/>
                </a:solidFill>
                <a:latin typeface="Aptos"/>
              </a:rPr>
              <a:t>Sistem izračuna dolžino in predviden čas.</a:t>
            </a:r>
            <a:endParaRPr lang="sl-SI" sz="1300"/>
          </a:p>
        </p:txBody>
      </p:sp>
      <p:pic>
        <p:nvPicPr>
          <p:cNvPr id="13" name="Slovenia_silhouet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732520" y="1508760"/>
            <a:ext cx="2103120" cy="1828800"/>
          </a:xfrm>
          <a:prstGeom prst="rect">
            <a:avLst/>
          </a:prstGeom>
        </p:spPr>
      </p:pic>
      <p:sp>
        <p:nvSpPr>
          <p:cNvPr id="14" name="Panel"/>
          <p:cNvSpPr/>
          <p:nvPr/>
        </p:nvSpPr>
        <p:spPr>
          <a:xfrm>
            <a:off x="8595360" y="3840480"/>
            <a:ext cx="2651760" cy="141732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"/>
          <p:cNvSpPr txBox="1"/>
          <p:nvPr/>
        </p:nvSpPr>
        <p:spPr>
          <a:xfrm>
            <a:off x="8823960" y="416052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500" b="1">
                <a:solidFill>
                  <a:srgbClr val="F4F1E8"/>
                </a:solidFill>
                <a:latin typeface="Aptos"/>
              </a:rPr>
              <a:t>Zemljevid je del dejanskega uporabniškega toka.</a:t>
            </a:r>
            <a:endParaRPr lang="sl-SI" sz="1500"/>
          </a:p>
        </p:txBody>
      </p:sp>
      <p:sp>
        <p:nvSpPr>
          <p:cNvPr id="16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17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7</a:t>
            </a:r>
            <a:endParaRPr lang="sl-SI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7. Podatkovni model za website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MongoDB kolekcije podpirajo prikaz podatkov in osebna priporočila.</a:t>
            </a:r>
            <a:endParaRPr lang="sl-SI" sz="1300"/>
          </a:p>
        </p:txBody>
      </p:sp>
      <p:sp>
        <p:nvSpPr>
          <p:cNvPr id="5" name="Panel"/>
          <p:cNvSpPr/>
          <p:nvPr/>
        </p:nvSpPr>
        <p:spPr>
          <a:xfrm>
            <a:off x="731520" y="1417320"/>
            <a:ext cx="4709160" cy="15087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Panel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7" name="Text"/>
          <p:cNvSpPr txBox="1"/>
          <p:nvPr/>
        </p:nvSpPr>
        <p:spPr>
          <a:xfrm>
            <a:off x="1005840" y="1645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F6B35"/>
                </a:solidFill>
                <a:latin typeface="Aptos"/>
              </a:rPr>
              <a:t>users</a:t>
            </a:r>
            <a:endParaRPr lang="sl-SI" sz="1800"/>
          </a:p>
        </p:txBody>
      </p:sp>
      <p:sp>
        <p:nvSpPr>
          <p:cNvPr id="8" name="Text"/>
          <p:cNvSpPr txBox="1"/>
          <p:nvPr/>
        </p:nvSpPr>
        <p:spPr>
          <a:xfrm>
            <a:off x="1005840" y="210312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registracija, profil, BMI in osnovni podatki</a:t>
            </a:r>
            <a:endParaRPr lang="sl-SI" sz="1300"/>
          </a:p>
        </p:txBody>
      </p:sp>
      <p:sp>
        <p:nvSpPr>
          <p:cNvPr id="9" name="Panel"/>
          <p:cNvSpPr/>
          <p:nvPr/>
        </p:nvSpPr>
        <p:spPr>
          <a:xfrm>
            <a:off x="6217920" y="1417320"/>
            <a:ext cx="4709160" cy="15087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0" name="Panel"/>
          <p:cNvSpPr/>
          <p:nvPr/>
        </p:nvSpPr>
        <p:spPr>
          <a:xfrm>
            <a:off x="6217920" y="1417320"/>
            <a:ext cx="73152" cy="150876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1" name="Text"/>
          <p:cNvSpPr txBox="1"/>
          <p:nvPr/>
        </p:nvSpPr>
        <p:spPr>
          <a:xfrm>
            <a:off x="6492240" y="1645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8FA998"/>
                </a:solidFill>
                <a:latin typeface="Aptos"/>
              </a:rPr>
              <a:t>weather</a:t>
            </a:r>
            <a:endParaRPr lang="sl-SI" sz="1800"/>
          </a:p>
        </p:txBody>
      </p:sp>
      <p:sp>
        <p:nvSpPr>
          <p:cNvPr id="12" name="Text"/>
          <p:cNvSpPr txBox="1"/>
          <p:nvPr/>
        </p:nvSpPr>
        <p:spPr>
          <a:xfrm>
            <a:off x="6492240" y="210312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ARSO podatki, numerične vrednosti in vremensko tveganje</a:t>
            </a:r>
            <a:endParaRPr lang="sl-SI" sz="1300"/>
          </a:p>
        </p:txBody>
      </p:sp>
      <p:sp>
        <p:nvSpPr>
          <p:cNvPr id="13" name="Panel"/>
          <p:cNvSpPr/>
          <p:nvPr/>
        </p:nvSpPr>
        <p:spPr>
          <a:xfrm>
            <a:off x="731520" y="3703320"/>
            <a:ext cx="4709160" cy="15087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4" name="Panel"/>
          <p:cNvSpPr/>
          <p:nvPr/>
        </p:nvSpPr>
        <p:spPr>
          <a:xfrm>
            <a:off x="731520" y="3703320"/>
            <a:ext cx="73152" cy="1508760"/>
          </a:xfrm>
          <a:prstGeom prst="rect">
            <a:avLst/>
          </a:prstGeom>
          <a:solidFill>
            <a:srgbClr val="8FA998"/>
          </a:solidFill>
          <a:ln w="12000">
            <a:solidFill>
              <a:srgbClr val="8FA998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5" name="Text"/>
          <p:cNvSpPr txBox="1"/>
          <p:nvPr/>
        </p:nvSpPr>
        <p:spPr>
          <a:xfrm>
            <a:off x="1005840" y="3931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8FA998"/>
                </a:solidFill>
                <a:latin typeface="Aptos"/>
              </a:rPr>
              <a:t>trails</a:t>
            </a:r>
            <a:endParaRPr lang="sl-SI" sz="1800"/>
          </a:p>
        </p:txBody>
      </p:sp>
      <p:sp>
        <p:nvSpPr>
          <p:cNvPr id="16" name="Text"/>
          <p:cNvSpPr txBox="1"/>
          <p:nvPr/>
        </p:nvSpPr>
        <p:spPr>
          <a:xfrm>
            <a:off x="1005840" y="438912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planinske poti, regije, težavnosti in osnovne metrike</a:t>
            </a:r>
            <a:endParaRPr lang="sl-SI" sz="1300"/>
          </a:p>
        </p:txBody>
      </p:sp>
      <p:sp>
        <p:nvSpPr>
          <p:cNvPr id="17" name="Panel"/>
          <p:cNvSpPr/>
          <p:nvPr/>
        </p:nvSpPr>
        <p:spPr>
          <a:xfrm>
            <a:off x="6217920" y="3703320"/>
            <a:ext cx="4709160" cy="1508760"/>
          </a:xfrm>
          <a:prstGeom prst="roundRect">
            <a:avLst/>
          </a:prstGeom>
          <a:solidFill>
            <a:srgbClr val="13201A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8" name="Panel"/>
          <p:cNvSpPr/>
          <p:nvPr/>
        </p:nvSpPr>
        <p:spPr>
          <a:xfrm>
            <a:off x="6217920" y="3703320"/>
            <a:ext cx="73152" cy="1508760"/>
          </a:xfrm>
          <a:prstGeom prst="rect">
            <a:avLst/>
          </a:prstGeom>
          <a:solidFill>
            <a:srgbClr val="E8B75A"/>
          </a:solidFill>
          <a:ln w="12000">
            <a:solidFill>
              <a:srgbClr val="E8B75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9" name="Text"/>
          <p:cNvSpPr txBox="1"/>
          <p:nvPr/>
        </p:nvSpPr>
        <p:spPr>
          <a:xfrm>
            <a:off x="6492240" y="3931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E8B75A"/>
                </a:solidFill>
                <a:latin typeface="Aptos"/>
              </a:rPr>
              <a:t>riskAnalyses</a:t>
            </a:r>
            <a:endParaRPr lang="sl-SI" sz="1800"/>
          </a:p>
        </p:txBody>
      </p:sp>
      <p:sp>
        <p:nvSpPr>
          <p:cNvPr id="20" name="Text"/>
          <p:cNvSpPr txBox="1"/>
          <p:nvPr/>
        </p:nvSpPr>
        <p:spPr>
          <a:xfrm>
            <a:off x="6492240" y="438912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rezultati analize primernosti izbrane poti</a:t>
            </a:r>
            <a:endParaRPr lang="sl-SI" sz="1300"/>
          </a:p>
        </p:txBody>
      </p:sp>
      <p:sp>
        <p:nvSpPr>
          <p:cNvPr id="21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22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8</a:t>
            </a:r>
            <a:endParaRPr lang="sl-SI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200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2600" b="1">
                <a:solidFill>
                  <a:srgbClr val="F4F1E8"/>
                </a:solidFill>
                <a:latin typeface="Aptos"/>
              </a:rPr>
              <a:t>8. Demo scenarij</a:t>
            </a:r>
            <a:endParaRPr lang="sl-SI" sz="2600"/>
          </a:p>
        </p:txBody>
      </p:sp>
      <p:sp>
        <p:nvSpPr>
          <p:cNvPr id="3" name="Panel"/>
          <p:cNvSpPr/>
          <p:nvPr/>
        </p:nvSpPr>
        <p:spPr>
          <a:xfrm>
            <a:off x="594360" y="941832"/>
            <a:ext cx="1005840" cy="45720"/>
          </a:xfrm>
          <a:prstGeom prst="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4" name="Text"/>
          <p:cNvSpPr txBox="1"/>
          <p:nvPr/>
        </p:nvSpPr>
        <p:spPr>
          <a:xfrm>
            <a:off x="594360" y="107899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300" b="0">
                <a:solidFill>
                  <a:srgbClr val="B8C4BB"/>
                </a:solidFill>
                <a:latin typeface="Aptos"/>
              </a:rPr>
              <a:t>Predstavitev spletne aplikacije lahko pokažemo skozi en konkreten tok.</a:t>
            </a:r>
            <a:endParaRPr lang="sl-SI" sz="1300"/>
          </a:p>
        </p:txBody>
      </p:sp>
      <p:sp>
        <p:nvSpPr>
          <p:cNvPr id="5" name="Panel"/>
          <p:cNvSpPr/>
          <p:nvPr/>
        </p:nvSpPr>
        <p:spPr>
          <a:xfrm>
            <a:off x="822960" y="1920240"/>
            <a:ext cx="2331720" cy="29718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6" name="Panel"/>
          <p:cNvSpPr/>
          <p:nvPr/>
        </p:nvSpPr>
        <p:spPr>
          <a:xfrm>
            <a:off x="1051560" y="2176272"/>
            <a:ext cx="548640" cy="548640"/>
          </a:xfrm>
          <a:prstGeom prst="round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7" name="Text"/>
          <p:cNvSpPr txBox="1"/>
          <p:nvPr/>
        </p:nvSpPr>
        <p:spPr>
          <a:xfrm>
            <a:off x="1170432" y="22860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1</a:t>
            </a:r>
            <a:endParaRPr lang="sl-SI" sz="1600"/>
          </a:p>
        </p:txBody>
      </p:sp>
      <p:sp>
        <p:nvSpPr>
          <p:cNvPr id="8" name="Text"/>
          <p:cNvSpPr txBox="1"/>
          <p:nvPr/>
        </p:nvSpPr>
        <p:spPr>
          <a:xfrm>
            <a:off x="1051560" y="2926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Odpri Hribovc</a:t>
            </a:r>
            <a:endParaRPr lang="sl-SI" sz="1600"/>
          </a:p>
        </p:txBody>
      </p:sp>
      <p:sp>
        <p:nvSpPr>
          <p:cNvPr id="9" name="Text"/>
          <p:cNvSpPr txBox="1"/>
          <p:nvPr/>
        </p:nvSpPr>
        <p:spPr>
          <a:xfrm>
            <a:off x="1051560" y="352044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Uporabnik vidi namen aplikacije in glavne korake.</a:t>
            </a:r>
            <a:endParaRPr lang="sl-SI" sz="1200"/>
          </a:p>
        </p:txBody>
      </p:sp>
      <p:cxnSp>
        <p:nvCxnSpPr>
          <p:cNvPr id="10" name="Arrow"/>
          <p:cNvCxnSpPr/>
          <p:nvPr/>
        </p:nvCxnSpPr>
        <p:spPr>
          <a:xfrm>
            <a:off x="3154679" y="3383280"/>
            <a:ext cx="365760" cy="0"/>
          </a:xfrm>
          <a:prstGeom prst="line">
            <a:avLst/>
          </a:prstGeom>
          <a:ln w="26000">
            <a:solidFill>
              <a:srgbClr val="8FA998"/>
            </a:solidFill>
            <a:tailEnd type="triangle"/>
          </a:ln>
        </p:spPr>
      </p:cxnSp>
      <p:sp>
        <p:nvSpPr>
          <p:cNvPr id="11" name="Panel"/>
          <p:cNvSpPr/>
          <p:nvPr/>
        </p:nvSpPr>
        <p:spPr>
          <a:xfrm>
            <a:off x="3611879" y="1920240"/>
            <a:ext cx="2331720" cy="29718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2" name="Panel"/>
          <p:cNvSpPr/>
          <p:nvPr/>
        </p:nvSpPr>
        <p:spPr>
          <a:xfrm>
            <a:off x="3840479" y="2176272"/>
            <a:ext cx="548640" cy="548640"/>
          </a:xfrm>
          <a:prstGeom prst="round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3" name="Text"/>
          <p:cNvSpPr txBox="1"/>
          <p:nvPr/>
        </p:nvSpPr>
        <p:spPr>
          <a:xfrm>
            <a:off x="3959352" y="22860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2</a:t>
            </a:r>
            <a:endParaRPr lang="sl-SI" sz="1600"/>
          </a:p>
        </p:txBody>
      </p:sp>
      <p:sp>
        <p:nvSpPr>
          <p:cNvPr id="14" name="Text"/>
          <p:cNvSpPr txBox="1"/>
          <p:nvPr/>
        </p:nvSpPr>
        <p:spPr>
          <a:xfrm>
            <a:off x="3840479" y="2926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Preveri vreme</a:t>
            </a:r>
            <a:endParaRPr lang="sl-SI" sz="1600"/>
          </a:p>
        </p:txBody>
      </p:sp>
      <p:sp>
        <p:nvSpPr>
          <p:cNvPr id="15" name="Text"/>
          <p:cNvSpPr txBox="1"/>
          <p:nvPr/>
        </p:nvSpPr>
        <p:spPr>
          <a:xfrm>
            <a:off x="3840479" y="352044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Oceni razmere pred izbiro ture.</a:t>
            </a:r>
            <a:endParaRPr lang="sl-SI" sz="1200"/>
          </a:p>
        </p:txBody>
      </p:sp>
      <p:cxnSp>
        <p:nvCxnSpPr>
          <p:cNvPr id="16" name="Arrow"/>
          <p:cNvCxnSpPr/>
          <p:nvPr/>
        </p:nvCxnSpPr>
        <p:spPr>
          <a:xfrm>
            <a:off x="5943600" y="3383280"/>
            <a:ext cx="365760" cy="0"/>
          </a:xfrm>
          <a:prstGeom prst="line">
            <a:avLst/>
          </a:prstGeom>
          <a:ln w="26000">
            <a:solidFill>
              <a:srgbClr val="8FA998"/>
            </a:solidFill>
            <a:tailEnd type="triangle"/>
          </a:ln>
        </p:spPr>
      </p:cxnSp>
      <p:sp>
        <p:nvSpPr>
          <p:cNvPr id="17" name="Panel"/>
          <p:cNvSpPr/>
          <p:nvPr/>
        </p:nvSpPr>
        <p:spPr>
          <a:xfrm>
            <a:off x="6400800" y="1920240"/>
            <a:ext cx="2331720" cy="29718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8" name="Panel"/>
          <p:cNvSpPr/>
          <p:nvPr/>
        </p:nvSpPr>
        <p:spPr>
          <a:xfrm>
            <a:off x="6629400" y="2176272"/>
            <a:ext cx="548640" cy="548640"/>
          </a:xfrm>
          <a:prstGeom prst="round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19" name="Text"/>
          <p:cNvSpPr txBox="1"/>
          <p:nvPr/>
        </p:nvSpPr>
        <p:spPr>
          <a:xfrm>
            <a:off x="6748272" y="22860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3</a:t>
            </a:r>
            <a:endParaRPr lang="sl-SI" sz="1600"/>
          </a:p>
        </p:txBody>
      </p:sp>
      <p:sp>
        <p:nvSpPr>
          <p:cNvPr id="20" name="Text"/>
          <p:cNvSpPr txBox="1"/>
          <p:nvPr/>
        </p:nvSpPr>
        <p:spPr>
          <a:xfrm>
            <a:off x="6629400" y="2926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Izberi pot</a:t>
            </a:r>
            <a:endParaRPr lang="sl-SI" sz="1600"/>
          </a:p>
        </p:txBody>
      </p:sp>
      <p:sp>
        <p:nvSpPr>
          <p:cNvPr id="21" name="Text"/>
          <p:cNvSpPr txBox="1"/>
          <p:nvPr/>
        </p:nvSpPr>
        <p:spPr>
          <a:xfrm>
            <a:off x="6629400" y="352044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Filtrira poti in primerja priporočila.</a:t>
            </a:r>
            <a:endParaRPr lang="sl-SI" sz="1200"/>
          </a:p>
        </p:txBody>
      </p:sp>
      <p:cxnSp>
        <p:nvCxnSpPr>
          <p:cNvPr id="22" name="Arrow"/>
          <p:cNvCxnSpPr/>
          <p:nvPr/>
        </p:nvCxnSpPr>
        <p:spPr>
          <a:xfrm>
            <a:off x="8732520" y="3383280"/>
            <a:ext cx="365759" cy="0"/>
          </a:xfrm>
          <a:prstGeom prst="line">
            <a:avLst/>
          </a:prstGeom>
          <a:ln w="26000">
            <a:solidFill>
              <a:srgbClr val="8FA998"/>
            </a:solidFill>
            <a:tailEnd type="triangle"/>
          </a:ln>
        </p:spPr>
      </p:cxnSp>
      <p:sp>
        <p:nvSpPr>
          <p:cNvPr id="23" name="Panel"/>
          <p:cNvSpPr/>
          <p:nvPr/>
        </p:nvSpPr>
        <p:spPr>
          <a:xfrm>
            <a:off x="9189719" y="1920240"/>
            <a:ext cx="2331720" cy="2971800"/>
          </a:xfrm>
          <a:prstGeom prst="roundRect">
            <a:avLst/>
          </a:prstGeom>
          <a:solidFill>
            <a:srgbClr val="1B2D23"/>
          </a:solidFill>
          <a:ln w="12000">
            <a:solidFill>
              <a:srgbClr val="33463A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4" name="Panel"/>
          <p:cNvSpPr/>
          <p:nvPr/>
        </p:nvSpPr>
        <p:spPr>
          <a:xfrm>
            <a:off x="9418319" y="2176272"/>
            <a:ext cx="548640" cy="548640"/>
          </a:xfrm>
          <a:prstGeom prst="roundRect">
            <a:avLst/>
          </a:prstGeom>
          <a:solidFill>
            <a:srgbClr val="FF6B35"/>
          </a:solidFill>
          <a:ln w="12000">
            <a:solidFill>
              <a:srgbClr val="FF6B35"/>
            </a:solidFill>
          </a:ln>
        </p:spPr>
        <p:txBody>
          <a:bodyPr/>
          <a:lstStyle/>
          <a:p>
            <a:endParaRPr lang="en-SI"/>
          </a:p>
        </p:txBody>
      </p:sp>
      <p:sp>
        <p:nvSpPr>
          <p:cNvPr id="25" name="Text"/>
          <p:cNvSpPr txBox="1"/>
          <p:nvPr/>
        </p:nvSpPr>
        <p:spPr>
          <a:xfrm>
            <a:off x="9537192" y="22860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4</a:t>
            </a:r>
            <a:endParaRPr lang="sl-SI" sz="1600"/>
          </a:p>
        </p:txBody>
      </p:sp>
      <p:sp>
        <p:nvSpPr>
          <p:cNvPr id="26" name="Text"/>
          <p:cNvSpPr txBox="1"/>
          <p:nvPr/>
        </p:nvSpPr>
        <p:spPr>
          <a:xfrm>
            <a:off x="9418319" y="2926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600" b="1">
                <a:solidFill>
                  <a:srgbClr val="F4F1E8"/>
                </a:solidFill>
                <a:latin typeface="Aptos"/>
              </a:rPr>
              <a:t>Načrtuj v profilu</a:t>
            </a:r>
            <a:endParaRPr lang="sl-SI" sz="1600"/>
          </a:p>
        </p:txBody>
      </p:sp>
      <p:sp>
        <p:nvSpPr>
          <p:cNvPr id="27" name="Text"/>
          <p:cNvSpPr txBox="1"/>
          <p:nvPr/>
        </p:nvSpPr>
        <p:spPr>
          <a:xfrm>
            <a:off x="9418319" y="352044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200" b="0">
                <a:solidFill>
                  <a:srgbClr val="B8C4BB"/>
                </a:solidFill>
                <a:latin typeface="Aptos"/>
              </a:rPr>
              <a:t>Shrani vrh ali traso za kasnejši pregled.</a:t>
            </a:r>
            <a:endParaRPr lang="sl-SI" sz="1200"/>
          </a:p>
        </p:txBody>
      </p:sp>
      <p:sp>
        <p:nvSpPr>
          <p:cNvPr id="28" name="Text"/>
          <p:cNvSpPr txBox="1"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1800" b="1">
                <a:solidFill>
                  <a:srgbClr val="F4F1E8"/>
                </a:solidFill>
                <a:latin typeface="Aptos"/>
              </a:rPr>
              <a:t>Zaključek: Hribovc združi podatke in jih predstavi tako, da uporabnik hitreje izbere primerno pot.</a:t>
            </a:r>
            <a:endParaRPr lang="sl-SI" sz="1800"/>
          </a:p>
        </p:txBody>
      </p:sp>
      <p:sp>
        <p:nvSpPr>
          <p:cNvPr id="29" name="Text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l"/>
            <a:r>
              <a:rPr lang="sl-SI" sz="900" b="0">
                <a:solidFill>
                  <a:srgbClr val="819188"/>
                </a:solidFill>
                <a:latin typeface="Aptos"/>
              </a:rPr>
              <a:t>Hribovc | spletna aplikacija</a:t>
            </a:r>
            <a:endParaRPr lang="sl-SI" sz="900"/>
          </a:p>
        </p:txBody>
      </p:sp>
      <p:sp>
        <p:nvSpPr>
          <p:cNvPr id="30" name="Text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anchor="t">
            <a:spAutoFit/>
          </a:bodyPr>
          <a:lstStyle/>
          <a:p>
            <a:pPr algn="r"/>
            <a:r>
              <a:rPr lang="sl-SI" sz="900" b="0">
                <a:solidFill>
                  <a:srgbClr val="819188"/>
                </a:solidFill>
                <a:latin typeface="Aptos"/>
              </a:rPr>
              <a:t>9</a:t>
            </a:r>
            <a:endParaRPr lang="sl-SI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Ziga</dc:creator>
  <cp:lastModifiedBy>Žiga Pešti</cp:lastModifiedBy>
  <cp:revision>1</cp:revision>
  <dcterms:modified xsi:type="dcterms:W3CDTF">2026-06-06T09:58:13Z</dcterms:modified>
</cp:coreProperties>
</file>